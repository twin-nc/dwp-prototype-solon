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D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38912"/>
            <a:ext cx="10789920" cy="475488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DCMS Modules, Requirements and Functionality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024128"/>
            <a:ext cx="98755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400" b="0">
                <a:solidFill>
                  <a:srgbClr val="DCEAF7"/>
                </a:solidFill>
                <a:latin typeface="Aptos"/>
              </a:rPr>
              <a:t>PowerPoint summary generated from the current design-level traceability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57400"/>
            <a:ext cx="320040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76272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3400" b="1">
                <a:solidFill>
                  <a:srgbClr val="2F6FA3"/>
                </a:solidFill>
                <a:latin typeface="Aptos"/>
              </a:rPr>
              <a:t>442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24328"/>
            <a:ext cx="3200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1100" b="0">
                <a:solidFill>
                  <a:srgbClr val="5B6770"/>
                </a:solidFill>
                <a:latin typeface="Aptos"/>
              </a:rPr>
              <a:t>functional requirement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5424" y="2057400"/>
            <a:ext cx="320040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176272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3400" b="1">
                <a:solidFill>
                  <a:srgbClr val="0F766E"/>
                </a:solidFill>
                <a:latin typeface="Aptos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624328"/>
            <a:ext cx="3200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1100" b="0">
                <a:solidFill>
                  <a:srgbClr val="5B6770"/>
                </a:solidFill>
                <a:latin typeface="Aptos"/>
              </a:rPr>
              <a:t>functionality slices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7615" y="2057400"/>
            <a:ext cx="3200400" cy="10241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2176272"/>
            <a:ext cx="32004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3400" b="1">
                <a:solidFill>
                  <a:srgbClr val="2E7D32"/>
                </a:solidFill>
                <a:latin typeface="Aptos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5" y="2624328"/>
            <a:ext cx="3200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ctr"/>
            <a:r>
              <a:rPr sz="1100" b="0">
                <a:solidFill>
                  <a:srgbClr val="5B6770"/>
                </a:solidFill>
                <a:latin typeface="Aptos"/>
              </a:rPr>
              <a:t>functional capability families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106984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Current design coverage across modules, functionality slices and tender requirement families.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Summary-level requirement mapping suitable for stakeholder discussion.</a:t>
            </a:r>
          </a:p>
          <a:p>
            <a:pPr>
              <a:defRPr sz="1600">
                <a:solidFill>
                  <a:srgbClr val="1F2937"/>
                </a:solidFill>
                <a:latin typeface="Aptos"/>
              </a:defRPr>
            </a:pPr>
            <a:r>
              <a:t>Explicit separation between tender-linked functionality and design-added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9875520" cy="22860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900" b="0">
                <a:solidFill>
                  <a:srgbClr val="5B6770"/>
                </a:solidFill>
                <a:latin typeface="Aptos"/>
              </a:rPr>
              <a:t>Source: docs/project-foundation/functionality-module-requirements-map-attempt.md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Executive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The design covers tender capability families; requirement-level closure still needs trace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10972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097280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90472"/>
            <a:ext cx="31089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F6FA3"/>
                </a:solidFill>
                <a:latin typeface="Aptos"/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73936"/>
            <a:ext cx="31089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Functional families map cleanly to designed modules and delivery slices.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09728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09728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490472"/>
            <a:ext cx="31089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Trace maturity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773936"/>
            <a:ext cx="310896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Only 13 requirement entries currently have non-empty FNC links in trace-map.yaml.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097280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09728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490472"/>
            <a:ext cx="2926079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Design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1773936"/>
            <a:ext cx="2926079" cy="68580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Several extra controls support governance, safety, audit and operability.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63240"/>
            <a:ext cx="513892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Backend domains cover the operational debt lifecycle: customer/account, strategy, repayment, payments, communications, integration, audit, reporting and work allocation.</a:t>
            </a:r>
          </a:p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Process orchestration is central to the design but not yet scaffolded.</a:t>
            </a:r>
          </a:p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NFRs are mapped to design owners but not yet seeded into canonical trace.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063240"/>
            <a:ext cx="5138928" cy="2148840"/>
          </a:xfrm>
          <a:prstGeom prst="rect">
            <a:avLst/>
          </a:prstGeom>
          <a:solidFill>
            <a:srgbClr val="FFF4E5"/>
          </a:solidFill>
          <a:ln w="9525">
            <a:solidFill>
              <a:srgbClr val="F1D4A8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Priority trace slices: vulnerability, breathing space, statute-barred debt, write-off, repayment, DCA placement, RBAC, migration and MI.</a:t>
            </a:r>
          </a:p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Tests and evidence are not linked in the trace map yet.</a:t>
            </a:r>
          </a:p>
          <a:p>
            <a:pPr>
              <a:defRPr sz="1250">
                <a:solidFill>
                  <a:srgbClr val="1F2937"/>
                </a:solidFill>
                <a:latin typeface="Aptos"/>
              </a:defRPr>
            </a:pPr>
            <a:r>
              <a:t>Design-level mapping should be promoted into trace-map.yaml slice by slice.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Backend Domain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Business ownership across the Spring Boot modular monolith.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2240280" cy="640080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62456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55063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CAS DIC IEC CC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362456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F6FA3"/>
                </a:solidFill>
                <a:latin typeface="Aptos"/>
              </a:rPr>
              <a:t>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655063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CAS DIC SoR RPF DW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280160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362456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Aptos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655063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DW BSF A CAS IEC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280160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1362456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Aptos"/>
              </a:rP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1655063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A BSF MIR DW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148839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23113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F6FA3"/>
                </a:solidFill>
                <a:latin typeface="Aptos"/>
              </a:rPr>
              <a:t>Work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252374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WAM DW AAD UAAF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2148839"/>
            <a:ext cx="2240280" cy="640080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223113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Aptos"/>
              </a:rPr>
              <a:t>Repayment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252374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RPF IEC DW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2148839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6" y="223113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F6FA3"/>
                </a:solidFill>
                <a:latin typeface="Aptos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52374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RPF SoR DIC 3PM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6" y="2148839"/>
            <a:ext cx="2240280" cy="640080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28" y="223113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Aptos"/>
              </a:rPr>
              <a:t>Communications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52374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CC DIC AAD DW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017520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309981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Aptos"/>
              </a:rPr>
              <a:t>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339242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I3PS MR DIC CAS SoR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3017520"/>
            <a:ext cx="2240280" cy="64008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9584" y="309981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Aptos"/>
              </a:rPr>
              <a:t>Third party 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9584" y="339242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3PM I3PS SoR MIR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18504" y="3017520"/>
            <a:ext cx="2240280" cy="64008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6" y="309981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F6FA3"/>
                </a:solidFill>
                <a:latin typeface="Aptos"/>
              </a:rPr>
              <a:t>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39242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UAAF CP 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0576" y="3017520"/>
            <a:ext cx="2240280" cy="64008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3099815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Aptos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339242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AAD SoR DIC CP COM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3886200"/>
            <a:ext cx="2240280" cy="640080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3968496"/>
            <a:ext cx="20574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Aptos"/>
              </a:rPr>
              <a:t>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4261104"/>
            <a:ext cx="2057400" cy="12801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Aptos"/>
              </a:rPr>
              <a:t>MIR WAM 3PM SoR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956048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200">
                <a:solidFill>
                  <a:srgbClr val="1F2937"/>
                </a:solidFill>
                <a:latin typeface="Aptos"/>
              </a:defRPr>
            </a:pPr>
            <a:r>
              <a:t>Status: analytics and reporting are scaffolded; thirdpartymanagement is not yet scaffolded; audit is partially implemented.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Cross-Cutting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Process, frontend, platform and governance capabilities turn domains into a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07592"/>
            <a:ext cx="5166360" cy="987552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07592"/>
            <a:ext cx="73152" cy="98755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8074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Process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664207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Flowable BPMN/DMN runtime, process starts/events, delegates and workflow versioning.
Coverage: DW RPF WAM AAD CC UAAF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07592"/>
            <a:ext cx="5166360" cy="987552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07592"/>
            <a:ext cx="73152" cy="987552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38074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Process 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664207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Command bus and process interfaces isolating domain modules from Flowable.
Coverage: Enables DW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33472"/>
            <a:ext cx="5166360" cy="987552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633472"/>
            <a:ext cx="73152" cy="987552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70662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F6FA3"/>
                </a:solidFill>
                <a:latin typeface="Aptos"/>
              </a:rPr>
              <a:t>Frontend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990088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GOV.UK React staff UI, workflow screens, dashboards and admin/configuration surface.
Coverage: UI + operational families; ACC INT08-10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33472"/>
            <a:ext cx="5166360" cy="987552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633472"/>
            <a:ext cx="73152" cy="98755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70662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990088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Docker Compose, Helm, Keycloak realm, deployment topology and environment parity.
Coverage: CP SD AVA OPP REC SCA SEC 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59352"/>
            <a:ext cx="5166360" cy="987552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959352"/>
            <a:ext cx="73152" cy="987552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03250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315968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Builds, smoke tests, Helm lint, dev deployment and release gates.
Coverage: CP SD COM11 SEC03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59352"/>
            <a:ext cx="5166360" cy="987552"/>
          </a:xfrm>
          <a:prstGeom prst="roundRect">
            <a:avLst/>
          </a:prstGeom>
          <a:solidFill>
            <a:srgbClr val="EAF6EA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959352"/>
            <a:ext cx="73152" cy="987552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032504"/>
            <a:ext cx="484632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Governance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315968"/>
            <a:ext cx="48463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Aptos"/>
              </a:rPr>
              <a:t>Standards, ADRs, traceability, domain rulings and release evidence templates.
Coverage: CP SD COM DC SEC ACC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Summary Requirement-to-Module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Functional tender families mapped to primary design owners.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98448"/>
          <a:ext cx="10835640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  <a:gridCol w="5989320"/>
              </a:tblGrid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Capability area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Tender families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Primary design owners</a:t>
                      </a:r>
                    </a:p>
                  </a:txBody>
                  <a:tcPr>
                    <a:solidFill>
                      <a:srgbClr val="1D3A5F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Customer/account data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CAS, DIC, SoR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customer, account, payment, audit, integration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Workflow and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DW, BSF,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process, strategy, analytics, workallocation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Repayment and affordability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RPF, IEC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repaymentplan, payment, customer, strategy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Access and staff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UAAF,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user, frontend, workallocation,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Contact and agent activity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CC, AAD, WAM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communications, audit, workallocation, frontend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External parties and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3PM, I3PS, 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integration, thirdpartymanagement, account,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6354"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1">
                          <a:solidFill>
                            <a:srgbClr val="1D3A5F"/>
                          </a:solidFill>
                          <a:latin typeface="Aptos"/>
                        </a:rPr>
                        <a:t>Reporting and change governance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0F766E"/>
                          </a:solidFill>
                          <a:latin typeface="Aptos"/>
                        </a:rPr>
                        <a:t>MIR, CP, SD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  <a:tc>
                  <a:txBody>
                    <a:bodyPr lIns="36576" rIns="36576" tIns="18288" bIns="18288"/>
                    <a:lstStyle/>
                    <a:p>
                      <a:pPr algn="l"/>
                      <a:r>
                        <a:rPr sz="860" b="0">
                          <a:solidFill>
                            <a:srgbClr val="1F2937"/>
                          </a:solidFill>
                          <a:latin typeface="Aptos"/>
                        </a:rPr>
                        <a:t>reporting, governance docs, CI/CD, infrastructure</a:t>
                      </a:r>
                    </a:p>
                  </a:txBody>
                  <a:tcPr>
                    <a:solidFill>
                      <a:srgbClr val="E8F2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925312"/>
            <a:ext cx="10698480" cy="25603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Planning view only: requirement-level closure remains in trace-map.yaml.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Functionality Slices in the Current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22 trace-map functionality slices grouped by delivery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5166360" cy="310896"/>
          </a:xfrm>
          <a:prstGeom prst="rect">
            <a:avLst/>
          </a:prstGeom>
          <a:solidFill>
            <a:srgbClr val="FFF4E5"/>
          </a:solidFill>
          <a:ln w="9525">
            <a:solidFill>
              <a:srgbClr val="B45309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Process /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27632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Collection orchestration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Write-off approval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Treatment path overrides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Breathing space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Contact suppression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Champion/challenger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Arrangement monitoring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Statute-barred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234440"/>
            <a:ext cx="5166360" cy="310896"/>
          </a:xfrm>
          <a:prstGeom prst="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Repayment /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627632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I&amp;E capture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Arrangement creation and management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Affordability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62072"/>
            <a:ext cx="5166360" cy="310896"/>
          </a:xfrm>
          <a:prstGeom prst="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F6FA3"/>
                </a:solidFill>
                <a:latin typeface="Aptos"/>
              </a:rPr>
              <a:t>Auth /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55264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User identity management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Team and role-based access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Vulnerability routing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Write-off authority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862072"/>
            <a:ext cx="5166360" cy="310896"/>
          </a:xfrm>
          <a:prstGeom prst="rect">
            <a:avLst/>
          </a:prstGeom>
          <a:solidFill>
            <a:srgbClr val="E8F2FB"/>
          </a:solidFill>
          <a:ln w="9525">
            <a:solidFill>
              <a:srgbClr val="0F766E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Customer /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255264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Customer profile and contact management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Account ledger and payment history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Relationship and household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89704"/>
            <a:ext cx="5166360" cy="310896"/>
          </a:xfrm>
          <a:prstGeom prst="rect">
            <a:avLst/>
          </a:prstGeom>
          <a:solidFill>
            <a:srgbClr val="EAF6EA"/>
          </a:solidFill>
          <a:ln w="9525">
            <a:solidFill>
              <a:srgbClr val="2E7D32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Aptos"/>
              </a:rPr>
              <a:t>Audit /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82896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Immutable event audit log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Compliance and override audit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489704"/>
            <a:ext cx="5166360" cy="310896"/>
          </a:xfrm>
          <a:prstGeom prst="rect">
            <a:avLst/>
          </a:prstGeom>
          <a:solidFill>
            <a:srgbClr val="E8F2FB"/>
          </a:solidFill>
          <a:ln w="9525">
            <a:solidFill>
              <a:srgbClr val="2F6FA3"/>
            </a:solidFill>
          </a:ln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F6FA3"/>
                </a:solidFill>
                <a:latin typeface="Aptos"/>
              </a:rP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4882896"/>
            <a:ext cx="5166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DCA placement and integration</a:t>
            </a:r>
          </a:p>
          <a:p>
            <a:pPr>
              <a:defRPr sz="919">
                <a:solidFill>
                  <a:srgbClr val="1F2937"/>
                </a:solidFill>
                <a:latin typeface="Aptos"/>
              </a:defRPr>
            </a:pPr>
            <a:r>
              <a:t>DWP Place debt ingest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Example Requirement-to-Functionality 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Summary-level mapping for high-risk and high-value slices.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43584"/>
            <a:ext cx="10927080" cy="566928"/>
          </a:xfrm>
          <a:prstGeom prst="rect">
            <a:avLst/>
          </a:prstGeom>
          <a:solidFill>
            <a:srgbClr val="F7FAFC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44168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Vulnerability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344168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DIC + DW + UAAF + WAM + 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FNC-AUTH-003, FNC-AUTH-002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344168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customer, process, strategy, 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56816"/>
            <a:ext cx="10927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Breathing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057400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DW + RPF + CC + AAD + 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57400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FNC-PROC-004, FNC-PROC-005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057400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process, account, repaymentplan, 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670048"/>
            <a:ext cx="10927080" cy="566928"/>
          </a:xfrm>
          <a:prstGeom prst="rect">
            <a:avLst/>
          </a:prstGeom>
          <a:solidFill>
            <a:srgbClr val="F7FAFC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70632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Write-off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770632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DW + UAAF + WAM + AAD + 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70632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FNC-PROC-002, FNC-AUTH-004, FNC-AUD-001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70632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process, account, workallocation,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83280"/>
            <a:ext cx="10927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83864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Repayment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483864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RPF + IEC + DW + UI + 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483864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FNC-RPF-001, FNC-RPF-002, FNC-CUST-004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483864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repaymentplan, payment, strategy, frontend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096512"/>
            <a:ext cx="10927080" cy="566928"/>
          </a:xfrm>
          <a:prstGeom prst="rect">
            <a:avLst/>
          </a:prstGeom>
          <a:solidFill>
            <a:srgbClr val="F7FAFC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97096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DCA 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197096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3PM + I3PS + CC + SoR + MIR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197096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FNC-INTG-001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197096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integration, thirdpartymanagement, audit, reporting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09744"/>
            <a:ext cx="10927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910328"/>
            <a:ext cx="14173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950" b="1">
                <a:solidFill>
                  <a:srgbClr val="1D3A5F"/>
                </a:solidFill>
                <a:latin typeface="Aptos"/>
              </a:rPr>
              <a:t>Debt ingest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910328"/>
            <a:ext cx="242316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Aptos"/>
              </a:rPr>
              <a:t>I3PS + CAS + DIC + SoR + MR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4910328"/>
            <a:ext cx="297180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Aptos"/>
              </a:rPr>
              <a:t>FNC-INTG-002, FNC-CUST-001/002, FNC-PROC-001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910328"/>
            <a:ext cx="3474720" cy="164592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tos"/>
              </a:rPr>
              <a:t>integration, customer, account,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Functionality Not Explicitly Named in Tender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Design additions that make the service governable, auditable and operable.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5303520" cy="3886200"/>
          </a:xfrm>
          <a:prstGeom prst="rect">
            <a:avLst/>
          </a:prstGeom>
          <a:solidFill>
            <a:srgbClr val="E8F2FB"/>
          </a:solidFill>
          <a:ln w="9525">
            <a:solidFill>
              <a:srgbClr val="B8D5EC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Embedded BPMN/DMN process engine and event subprocess library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Delegate command bus and process-port isolation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Three-tier configurability plus cross-tier policy bundles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Unified role-scoped admin UI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Process Action Library for governed workflow service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298448"/>
            <a:ext cx="5303520" cy="3886200"/>
          </a:xfrm>
          <a:prstGeom prst="rect">
            <a:avLst/>
          </a:prstGeom>
          <a:solidFill>
            <a:srgbClr val="EAF6EA"/>
          </a:solidFill>
          <a:ln w="9525">
            <a:solidFill>
              <a:srgbClr val="B9DDB9"/>
            </a:solidFill>
          </a:ln>
        </p:spPr>
        <p:txBody>
          <a:bodyPr wrap="square" lIns="146304" rIns="109728" tIns="82296" bIns="82296">
            <a:normAutofit/>
          </a:bodyPr>
          <a:lstStyle/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Strategy simulation before live activation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Domain ruling gate for Class A legal/regulatory behaviour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Release evidence pack and traceability operating model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Local/remote parity with no-stub auth flow</a:t>
            </a:r>
          </a:p>
          <a:p>
            <a:pPr>
              <a:defRPr sz="1320">
                <a:solidFill>
                  <a:srgbClr val="1F2937"/>
                </a:solidFill>
                <a:latin typeface="Aptos"/>
              </a:defRPr>
            </a:pPr>
            <a:r>
              <a:t>Projection/read-model strategy and reconciliation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50" b="0">
                <a:solidFill>
                  <a:srgbClr val="5B6770"/>
                </a:solidFill>
                <a:latin typeface="Aptos"/>
              </a:rPr>
              <a:t>These are implementation and governance controls, not extra standalone tender promises.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881360" cy="41148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2400" b="1">
                <a:solidFill>
                  <a:srgbClr val="1D3A5F"/>
                </a:solidFill>
                <a:latin typeface="Aptos"/>
              </a:rPr>
              <a:t>Traceability Gaps and Next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49808"/>
            <a:ext cx="11155680" cy="32004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32104"/>
            <a:ext cx="10789920" cy="274320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1000" b="0">
                <a:solidFill>
                  <a:srgbClr val="5B6770"/>
                </a:solidFill>
                <a:latin typeface="Aptos"/>
              </a:rPr>
              <a:t>What must happen before this becomes a closure-grade trace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73952"/>
            <a:ext cx="91440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r"/>
            <a:r>
              <a:rPr sz="800" b="0">
                <a:solidFill>
                  <a:srgbClr val="89949E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</p:spPr>
        <p:txBody>
          <a:bodyPr wrap="square" lIns="0" rIns="0" tIns="36576" bIns="36576">
            <a:normAutofit/>
          </a:bodyPr>
          <a:lstStyle/>
          <a:p>
            <a:pPr algn="l"/>
            <a:r>
              <a:rPr sz="800" b="0">
                <a:solidFill>
                  <a:srgbClr val="89949E"/>
                </a:solidFill>
                <a:latin typeface="Aptos"/>
              </a:rPr>
              <a:t>DCMS design traceability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61872"/>
            <a:ext cx="5120640" cy="4160520"/>
          </a:xfrm>
          <a:prstGeom prst="roundRect">
            <a:avLst/>
          </a:prstGeom>
          <a:solidFill>
            <a:srgbClr val="FFF4E5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61872"/>
            <a:ext cx="73152" cy="4160520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35024"/>
            <a:ext cx="4800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Trace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618488"/>
            <a:ext cx="4800600" cy="3749039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? Add missing functional IDs: DIC.23, DIC.35, DW.23, DW.36.
? Decide where NFR trace lives.
? Promote family mappings into requirement-level FNC links.
? Add tests and evidence placeholders before moving beyond partial.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61872"/>
            <a:ext cx="5120640" cy="4160520"/>
          </a:xfrm>
          <a:prstGeom prst="roundRect">
            <a:avLst/>
          </a:prstGeom>
          <a:solidFill>
            <a:srgbClr val="E8F2FB"/>
          </a:solidFill>
          <a:ln w="9525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61872"/>
            <a:ext cx="73152" cy="4160520"/>
          </a:xfrm>
          <a:prstGeom prst="rect">
            <a:avLst/>
          </a:prstGeom>
          <a:solidFill>
            <a:srgbClr val="2F6FA3"/>
          </a:solidFill>
          <a:ln w="9525">
            <a:solidFill>
              <a:srgbClr val="2F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335024"/>
            <a:ext cx="480060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1">
                <a:solidFill>
                  <a:srgbClr val="2F6FA3"/>
                </a:solidFill>
                <a:latin typeface="Aptos"/>
              </a:rPr>
              <a:t>Delivery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618488"/>
            <a:ext cx="4800600" cy="3749039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? Scaffold or defer infrastructure/process, shared/process/port and thirdpartymanagement.
? Resolve development-plan section 14 ID mismatch.
? Prioritise vulnerability, breathing space, statute-barred, write-off, repayment, DCA, RBAC, migration and MI.
? Keep trace-map.yaml canonical.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
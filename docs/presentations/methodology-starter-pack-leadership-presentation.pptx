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3" r:id="rId4"/>
    <p:sldId id="264" r:id="rId5"/>
    <p:sldId id="265" r:id="rId6"/>
    <p:sldId id="267" r:id="rId7"/>
    <p:sldId id="269" r:id="rId8"/>
    <p:sldId id="270" r:id="rId9"/>
    <p:sldId id="271" r:id="rId10"/>
    <p:sldId id="272" r:id="rId11"/>
    <p:sldId id="266" r:id="rId12"/>
    <p:sldId id="273" r:id="rId13"/>
    <p:sldId id="274" r:id="rId14"/>
    <p:sldId id="261" r:id="rId15"/>
    <p:sldId id="262" r:id="rId16"/>
    <p:sldId id="268" r:id="rId17"/>
  </p:sldIdLst>
  <p:sldSz cx="12192000" cy="6858000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47076-B27F-49F6-AB4B-C78F15C01310}" v="8" dt="2026-04-29T07:42:07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844" autoAdjust="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as Wind" userId="1519c262-c0e0-447e-b123-01b69d65dc74" providerId="ADAL" clId="{34EEAEC7-AFA1-42E3-9BAA-5921C81EEF25}"/>
    <pc:docChg chg="undo custSel addSld delSld modSld sldOrd">
      <pc:chgData name="Tomas Wind" userId="1519c262-c0e0-447e-b123-01b69d65dc74" providerId="ADAL" clId="{34EEAEC7-AFA1-42E3-9BAA-5921C81EEF25}" dt="2026-04-29T11:36:35.031" v="734" actId="47"/>
      <pc:docMkLst>
        <pc:docMk/>
      </pc:docMkLst>
      <pc:sldChg chg="delSp mod modNotesTx">
        <pc:chgData name="Tomas Wind" userId="1519c262-c0e0-447e-b123-01b69d65dc74" providerId="ADAL" clId="{34EEAEC7-AFA1-42E3-9BAA-5921C81EEF25}" dt="2026-04-29T07:43:05.881" v="733" actId="478"/>
        <pc:sldMkLst>
          <pc:docMk/>
          <pc:sldMk cId="0" sldId="256"/>
        </pc:sldMkLst>
        <pc:spChg chg="del">
          <ac:chgData name="Tomas Wind" userId="1519c262-c0e0-447e-b123-01b69d65dc74" providerId="ADAL" clId="{34EEAEC7-AFA1-42E3-9BAA-5921C81EEF25}" dt="2026-04-29T07:42:59.987" v="732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7:42:39.884" v="731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7:43:05.881" v="733" actId="478"/>
          <ac:spMkLst>
            <pc:docMk/>
            <pc:sldMk cId="0" sldId="256"/>
            <ac:spMk id="12" creationId="{00000000-0000-0000-0000-000000000000}"/>
          </ac:spMkLst>
        </pc:spChg>
      </pc:sldChg>
      <pc:sldChg chg="delSp modSp del mod modNotesTx">
        <pc:chgData name="Tomas Wind" userId="1519c262-c0e0-447e-b123-01b69d65dc74" providerId="ADAL" clId="{34EEAEC7-AFA1-42E3-9BAA-5921C81EEF25}" dt="2026-04-29T06:49:04.863" v="30" actId="47"/>
        <pc:sldMkLst>
          <pc:docMk/>
          <pc:sldMk cId="0" sldId="257"/>
        </pc:sldMkLst>
        <pc:spChg chg="mod">
          <ac:chgData name="Tomas Wind" userId="1519c262-c0e0-447e-b123-01b69d65dc74" providerId="ADAL" clId="{34EEAEC7-AFA1-42E3-9BAA-5921C81EEF25}" dt="2026-04-28T14:15:40.650" v="0" actId="1076"/>
          <ac:spMkLst>
            <pc:docMk/>
            <pc:sldMk cId="0" sldId="257"/>
            <ac:spMk id="18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6:46:15.570" v="27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6:46:13.266" v="26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6:46:13.266" v="26" actId="478"/>
          <ac:spMkLst>
            <pc:docMk/>
            <pc:sldMk cId="0" sldId="257"/>
            <ac:spMk id="22" creationId="{00000000-0000-0000-0000-000000000000}"/>
          </ac:spMkLst>
        </pc:spChg>
        <pc:spChg chg="del mod">
          <ac:chgData name="Tomas Wind" userId="1519c262-c0e0-447e-b123-01b69d65dc74" providerId="ADAL" clId="{34EEAEC7-AFA1-42E3-9BAA-5921C81EEF25}" dt="2026-04-29T06:46:13.266" v="26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5:50.048" v="2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5:53.945" v="3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5:58.583" v="5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5:56.832" v="4" actId="478"/>
          <ac:spMkLst>
            <pc:docMk/>
            <pc:sldMk cId="0" sldId="257"/>
            <ac:spMk id="27" creationId="{00000000-0000-0000-0000-000000000000}"/>
          </ac:spMkLst>
        </pc:spChg>
        <pc:cxnChg chg="del">
          <ac:chgData name="Tomas Wind" userId="1519c262-c0e0-447e-b123-01b69d65dc74" providerId="ADAL" clId="{34EEAEC7-AFA1-42E3-9BAA-5921C81EEF25}" dt="2026-04-29T06:46:13.266" v="26" actId="478"/>
          <ac:cxnSpMkLst>
            <pc:docMk/>
            <pc:sldMk cId="0" sldId="257"/>
            <ac:cxnSpMk id="19" creationId="{00000000-0000-0000-0000-000000000000}"/>
          </ac:cxnSpMkLst>
        </pc:cxnChg>
      </pc:sldChg>
      <pc:sldChg chg="delSp modSp del mod modNotesTx">
        <pc:chgData name="Tomas Wind" userId="1519c262-c0e0-447e-b123-01b69d65dc74" providerId="ADAL" clId="{34EEAEC7-AFA1-42E3-9BAA-5921C81EEF25}" dt="2026-04-29T11:36:35.031" v="734" actId="47"/>
        <pc:sldMkLst>
          <pc:docMk/>
          <pc:sldMk cId="0" sldId="258"/>
        </pc:sldMkLst>
        <pc:spChg chg="mod">
          <ac:chgData name="Tomas Wind" userId="1519c262-c0e0-447e-b123-01b69d65dc74" providerId="ADAL" clId="{34EEAEC7-AFA1-42E3-9BAA-5921C81EEF25}" dt="2026-04-28T14:16:08.641" v="8" actId="20577"/>
          <ac:spMkLst>
            <pc:docMk/>
            <pc:sldMk cId="0" sldId="258"/>
            <ac:spMk id="5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6:18.625" v="9" actId="478"/>
          <ac:spMkLst>
            <pc:docMk/>
            <pc:sldMk cId="0" sldId="258"/>
            <ac:spMk id="14" creationId="{00000000-0000-0000-0000-000000000000}"/>
          </ac:spMkLst>
        </pc:spChg>
      </pc:sldChg>
      <pc:sldChg chg="delSp del mod">
        <pc:chgData name="Tomas Wind" userId="1519c262-c0e0-447e-b123-01b69d65dc74" providerId="ADAL" clId="{34EEAEC7-AFA1-42E3-9BAA-5921C81EEF25}" dt="2026-04-29T06:49:32.393" v="31" actId="47"/>
        <pc:sldMkLst>
          <pc:docMk/>
          <pc:sldMk cId="0" sldId="259"/>
        </pc:sldMkLst>
        <pc:spChg chg="del">
          <ac:chgData name="Tomas Wind" userId="1519c262-c0e0-447e-b123-01b69d65dc74" providerId="ADAL" clId="{34EEAEC7-AFA1-42E3-9BAA-5921C81EEF25}" dt="2026-04-28T14:16:43.927" v="11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6:43.927" v="11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6:43.927" v="11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6:40.714" v="10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8T14:16:46.744" v="12" actId="478"/>
          <ac:spMkLst>
            <pc:docMk/>
            <pc:sldMk cId="0" sldId="259"/>
            <ac:spMk id="18" creationId="{00000000-0000-0000-0000-000000000000}"/>
          </ac:spMkLst>
        </pc:spChg>
      </pc:sldChg>
      <pc:sldChg chg="modSp mod modNotesTx">
        <pc:chgData name="Tomas Wind" userId="1519c262-c0e0-447e-b123-01b69d65dc74" providerId="ADAL" clId="{34EEAEC7-AFA1-42E3-9BAA-5921C81EEF25}" dt="2026-04-29T06:51:18.772" v="47" actId="20577"/>
        <pc:sldMkLst>
          <pc:docMk/>
          <pc:sldMk cId="0" sldId="260"/>
        </pc:sldMkLst>
        <pc:spChg chg="mod">
          <ac:chgData name="Tomas Wind" userId="1519c262-c0e0-447e-b123-01b69d65dc74" providerId="ADAL" clId="{34EEAEC7-AFA1-42E3-9BAA-5921C81EEF25}" dt="2026-04-29T06:51:18.772" v="47" actId="20577"/>
          <ac:spMkLst>
            <pc:docMk/>
            <pc:sldMk cId="0" sldId="260"/>
            <ac:spMk id="8" creationId="{00000000-0000-0000-0000-000000000000}"/>
          </ac:spMkLst>
        </pc:spChg>
      </pc:sldChg>
      <pc:sldChg chg="add del">
        <pc:chgData name="Tomas Wind" userId="1519c262-c0e0-447e-b123-01b69d65dc74" providerId="ADAL" clId="{34EEAEC7-AFA1-42E3-9BAA-5921C81EEF25}" dt="2026-04-28T14:23:52.750" v="24" actId="2696"/>
        <pc:sldMkLst>
          <pc:docMk/>
          <pc:sldMk cId="0" sldId="261"/>
        </pc:sldMkLst>
      </pc:sldChg>
      <pc:sldChg chg="add setBg modNotesTx">
        <pc:chgData name="Tomas Wind" userId="1519c262-c0e0-447e-b123-01b69d65dc74" providerId="ADAL" clId="{34EEAEC7-AFA1-42E3-9BAA-5921C81EEF25}" dt="2026-04-29T07:10:48.746" v="716" actId="6549"/>
        <pc:sldMkLst>
          <pc:docMk/>
          <pc:sldMk cId="3939512424" sldId="261"/>
        </pc:sldMkLst>
      </pc:sldChg>
      <pc:sldChg chg="del">
        <pc:chgData name="Tomas Wind" userId="1519c262-c0e0-447e-b123-01b69d65dc74" providerId="ADAL" clId="{34EEAEC7-AFA1-42E3-9BAA-5921C81EEF25}" dt="2026-04-28T14:23:52.750" v="24" actId="2696"/>
        <pc:sldMkLst>
          <pc:docMk/>
          <pc:sldMk cId="0" sldId="262"/>
        </pc:sldMkLst>
      </pc:sldChg>
      <pc:sldChg chg="add setBg modNotesTx">
        <pc:chgData name="Tomas Wind" userId="1519c262-c0e0-447e-b123-01b69d65dc74" providerId="ADAL" clId="{34EEAEC7-AFA1-42E3-9BAA-5921C81EEF25}" dt="2026-04-29T07:10:28.218" v="715" actId="6549"/>
        <pc:sldMkLst>
          <pc:docMk/>
          <pc:sldMk cId="2345115343" sldId="262"/>
        </pc:sldMkLst>
      </pc:sldChg>
      <pc:sldChg chg="modSp mod modNotesTx">
        <pc:chgData name="Tomas Wind" userId="1519c262-c0e0-447e-b123-01b69d65dc74" providerId="ADAL" clId="{34EEAEC7-AFA1-42E3-9BAA-5921C81EEF25}" dt="2026-04-29T06:53:00.218" v="141" actId="20577"/>
        <pc:sldMkLst>
          <pc:docMk/>
          <pc:sldMk cId="0" sldId="263"/>
        </pc:sldMkLst>
        <pc:spChg chg="mod">
          <ac:chgData name="Tomas Wind" userId="1519c262-c0e0-447e-b123-01b69d65dc74" providerId="ADAL" clId="{34EEAEC7-AFA1-42E3-9BAA-5921C81EEF25}" dt="2026-04-29T06:53:00.218" v="141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8T14:18:33.862" v="18" actId="1410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8T14:18:58.928" v="19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6:52:02.185" v="71" actId="20577"/>
          <ac:spMkLst>
            <pc:docMk/>
            <pc:sldMk cId="0" sldId="263"/>
            <ac:spMk id="49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6:52:21.404" v="128" actId="20577"/>
          <ac:spMkLst>
            <pc:docMk/>
            <pc:sldMk cId="0" sldId="263"/>
            <ac:spMk id="50" creationId="{00000000-0000-0000-0000-000000000000}"/>
          </ac:spMkLst>
        </pc:spChg>
      </pc:sldChg>
      <pc:sldChg chg="delSp modSp mod modNotesTx">
        <pc:chgData name="Tomas Wind" userId="1519c262-c0e0-447e-b123-01b69d65dc74" providerId="ADAL" clId="{34EEAEC7-AFA1-42E3-9BAA-5921C81EEF25}" dt="2026-04-29T06:54:08.709" v="197" actId="478"/>
        <pc:sldMkLst>
          <pc:docMk/>
          <pc:sldMk cId="0" sldId="264"/>
        </pc:sldMkLst>
        <pc:spChg chg="mod">
          <ac:chgData name="Tomas Wind" userId="1519c262-c0e0-447e-b123-01b69d65dc74" providerId="ADAL" clId="{34EEAEC7-AFA1-42E3-9BAA-5921C81EEF25}" dt="2026-04-29T06:54:05.947" v="196" actId="20577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Tomas Wind" userId="1519c262-c0e0-447e-b123-01b69d65dc74" providerId="ADAL" clId="{34EEAEC7-AFA1-42E3-9BAA-5921C81EEF25}" dt="2026-04-29T06:53:54.860" v="174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6:53:40.192" v="172" actId="20577"/>
          <ac:spMkLst>
            <pc:docMk/>
            <pc:sldMk cId="0" sldId="264"/>
            <ac:spMk id="17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6:54:08.709" v="197" actId="478"/>
          <ac:spMkLst>
            <pc:docMk/>
            <pc:sldMk cId="0" sldId="264"/>
            <ac:spMk id="18" creationId="{00000000-0000-0000-0000-000000000000}"/>
          </ac:spMkLst>
        </pc:spChg>
      </pc:sldChg>
      <pc:sldChg chg="modNotesTx">
        <pc:chgData name="Tomas Wind" userId="1519c262-c0e0-447e-b123-01b69d65dc74" providerId="ADAL" clId="{34EEAEC7-AFA1-42E3-9BAA-5921C81EEF25}" dt="2026-04-29T06:54:34.058" v="198" actId="6549"/>
        <pc:sldMkLst>
          <pc:docMk/>
          <pc:sldMk cId="0" sldId="265"/>
        </pc:sldMkLst>
      </pc:sldChg>
      <pc:sldChg chg="delSp modSp mod ord modNotesTx">
        <pc:chgData name="Tomas Wind" userId="1519c262-c0e0-447e-b123-01b69d65dc74" providerId="ADAL" clId="{34EEAEC7-AFA1-42E3-9BAA-5921C81EEF25}" dt="2026-04-29T07:10:01.433" v="714"/>
        <pc:sldMkLst>
          <pc:docMk/>
          <pc:sldMk cId="0" sldId="266"/>
        </pc:sldMkLst>
        <pc:spChg chg="mod">
          <ac:chgData name="Tomas Wind" userId="1519c262-c0e0-447e-b123-01b69d65dc74" providerId="ADAL" clId="{34EEAEC7-AFA1-42E3-9BAA-5921C81EEF25}" dt="2026-04-29T06:59:00.455" v="210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7:01:49.660" v="229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6:59:05.595" v="218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7:02:24.835" v="258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6:59:10.235" v="227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7:02:38.662" v="266"/>
          <ac:spMkLst>
            <pc:docMk/>
            <pc:sldMk cId="0" sldId="266"/>
            <ac:spMk id="16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6:56:09.146" v="199" actId="478"/>
          <ac:spMkLst>
            <pc:docMk/>
            <pc:sldMk cId="0" sldId="266"/>
            <ac:spMk id="17" creationId="{00000000-0000-0000-0000-000000000000}"/>
          </ac:spMkLst>
        </pc:spChg>
      </pc:sldChg>
      <pc:sldChg chg="delSp modSp mod modNotesTx">
        <pc:chgData name="Tomas Wind" userId="1519c262-c0e0-447e-b123-01b69d65dc74" providerId="ADAL" clId="{34EEAEC7-AFA1-42E3-9BAA-5921C81EEF25}" dt="2026-04-29T07:09:51.302" v="710" actId="20577"/>
        <pc:sldMkLst>
          <pc:docMk/>
          <pc:sldMk cId="0" sldId="267"/>
        </pc:sldMkLst>
        <pc:spChg chg="mod">
          <ac:chgData name="Tomas Wind" userId="1519c262-c0e0-447e-b123-01b69d65dc74" providerId="ADAL" clId="{34EEAEC7-AFA1-42E3-9BAA-5921C81EEF25}" dt="2026-04-29T07:05:12.397" v="298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7:06:03.337" v="454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8T14:20:29.578" v="21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7:08:23.651" v="513" actId="20577"/>
          <ac:spMkLst>
            <pc:docMk/>
            <pc:sldMk cId="0" sldId="267"/>
            <ac:spMk id="15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7:09:51.302" v="710" actId="20577"/>
          <ac:spMkLst>
            <pc:docMk/>
            <pc:sldMk cId="0" sldId="267"/>
            <ac:spMk id="16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7:03:17.291" v="267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7:03:22.402" v="268" actId="478"/>
          <ac:spMkLst>
            <pc:docMk/>
            <pc:sldMk cId="0" sldId="267"/>
            <ac:spMk id="18" creationId="{00000000-0000-0000-0000-000000000000}"/>
          </ac:spMkLst>
        </pc:spChg>
        <pc:spChg chg="del mod">
          <ac:chgData name="Tomas Wind" userId="1519c262-c0e0-447e-b123-01b69d65dc74" providerId="ADAL" clId="{34EEAEC7-AFA1-42E3-9BAA-5921C81EEF25}" dt="2026-04-29T07:03:24.170" v="270" actId="478"/>
          <ac:spMkLst>
            <pc:docMk/>
            <pc:sldMk cId="0" sldId="267"/>
            <ac:spMk id="19" creationId="{00000000-0000-0000-0000-000000000000}"/>
          </ac:spMkLst>
        </pc:spChg>
        <pc:spChg chg="del">
          <ac:chgData name="Tomas Wind" userId="1519c262-c0e0-447e-b123-01b69d65dc74" providerId="ADAL" clId="{34EEAEC7-AFA1-42E3-9BAA-5921C81EEF25}" dt="2026-04-29T07:03:25.751" v="271" actId="478"/>
          <ac:spMkLst>
            <pc:docMk/>
            <pc:sldMk cId="0" sldId="267"/>
            <ac:spMk id="20" creationId="{00000000-0000-0000-0000-000000000000}"/>
          </ac:spMkLst>
        </pc:spChg>
      </pc:sldChg>
      <pc:sldChg chg="modSp mod ord modNotesTx">
        <pc:chgData name="Tomas Wind" userId="1519c262-c0e0-447e-b123-01b69d65dc74" providerId="ADAL" clId="{34EEAEC7-AFA1-42E3-9BAA-5921C81EEF25}" dt="2026-04-29T07:12:09.685" v="729" actId="6549"/>
        <pc:sldMkLst>
          <pc:docMk/>
          <pc:sldMk cId="0" sldId="268"/>
        </pc:sldMkLst>
        <pc:spChg chg="mod">
          <ac:chgData name="Tomas Wind" userId="1519c262-c0e0-447e-b123-01b69d65dc74" providerId="ADAL" clId="{34EEAEC7-AFA1-42E3-9BAA-5921C81EEF25}" dt="2026-04-29T07:11:42.079" v="722" actId="6549"/>
          <ac:spMkLst>
            <pc:docMk/>
            <pc:sldMk cId="0" sldId="268"/>
            <ac:spMk id="6" creationId="{00000000-0000-0000-0000-000000000000}"/>
          </ac:spMkLst>
        </pc:spChg>
        <pc:spChg chg="mod">
          <ac:chgData name="Tomas Wind" userId="1519c262-c0e0-447e-b123-01b69d65dc74" providerId="ADAL" clId="{34EEAEC7-AFA1-42E3-9BAA-5921C81EEF25}" dt="2026-04-29T07:11:53.956" v="726" actId="20577"/>
          <ac:spMkLst>
            <pc:docMk/>
            <pc:sldMk cId="0" sldId="268"/>
            <ac:spMk id="9" creationId="{00000000-0000-0000-0000-000000000000}"/>
          </ac:spMkLst>
        </pc:spChg>
      </pc:sldChg>
      <pc:sldChg chg="modNotesTx">
        <pc:chgData name="Tomas Wind" userId="1519c262-c0e0-447e-b123-01b69d65dc74" providerId="ADAL" clId="{34EEAEC7-AFA1-42E3-9BAA-5921C81EEF25}" dt="2026-04-29T07:11:23.936" v="721" actId="6549"/>
        <pc:sldMkLst>
          <pc:docMk/>
          <pc:sldMk cId="0" sldId="269"/>
        </pc:sldMkLst>
      </pc:sldChg>
      <pc:sldChg chg="modNotesTx">
        <pc:chgData name="Tomas Wind" userId="1519c262-c0e0-447e-b123-01b69d65dc74" providerId="ADAL" clId="{34EEAEC7-AFA1-42E3-9BAA-5921C81EEF25}" dt="2026-04-29T07:11:17.535" v="720" actId="6549"/>
        <pc:sldMkLst>
          <pc:docMk/>
          <pc:sldMk cId="0" sldId="270"/>
        </pc:sldMkLst>
      </pc:sldChg>
      <pc:sldChg chg="modNotesTx">
        <pc:chgData name="Tomas Wind" userId="1519c262-c0e0-447e-b123-01b69d65dc74" providerId="ADAL" clId="{34EEAEC7-AFA1-42E3-9BAA-5921C81EEF25}" dt="2026-04-29T07:11:07.742" v="719" actId="6549"/>
        <pc:sldMkLst>
          <pc:docMk/>
          <pc:sldMk cId="0" sldId="272"/>
        </pc:sldMkLst>
      </pc:sldChg>
      <pc:sldChg chg="modNotesTx">
        <pc:chgData name="Tomas Wind" userId="1519c262-c0e0-447e-b123-01b69d65dc74" providerId="ADAL" clId="{34EEAEC7-AFA1-42E3-9BAA-5921C81EEF25}" dt="2026-04-29T07:10:59.352" v="718" actId="6549"/>
        <pc:sldMkLst>
          <pc:docMk/>
          <pc:sldMk cId="0" sldId="273"/>
        </pc:sldMkLst>
      </pc:sldChg>
      <pc:sldChg chg="modNotesTx">
        <pc:chgData name="Tomas Wind" userId="1519c262-c0e0-447e-b123-01b69d65dc74" providerId="ADAL" clId="{34EEAEC7-AFA1-42E3-9BAA-5921C81EEF25}" dt="2026-04-29T07:10:55.987" v="717" actId="6549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59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File examples only if asked: WAYS-OF-WORKING, AGENT-RULES, INSTALL-MANIFEST, PRE-IMPLEMENTATION-CHECKPOINT, REMOTE-DEPLOYMENT-READINESS-GATE, release evidence template.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Examples: Solution Architect, Delivery Designer, Business Analyst, Domain Expert, Backend/Frontend Builders, Test Builder, Code Reviewer, Traceability Steward. The improvement is turning a catalogue into a governance model: role boundaries reduce authority blur.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issue-first work, PR gates, documentation impact classification, trace updates, evidence templates, setup checklist, project memory, readiness gates, parity standards, hook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role has mission, scope, guardrails, escalation rules, and output contract. Use this if the audience asks how the model avoids generic-agent blur.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block-no-verify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PreToolUse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Bash Scans every bash command for --no-verify, --no-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-sign, etc. If found, it blocks and tells Claude to fix the underlying issue instead of bypassing it. Active in all profiles.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config-protection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PreToolUse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Edit/Write Guards files like pom.xml,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tsconfig.json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eslintrc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checkstyle.xml. If Claude tries to edit any of them, it's blocked until a human explicitly approves it. Prevents silent CI breakage.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-health-check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PreToolUse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__* Before any MCP tool call fires, it probes the server's health endpoint. If the server is unreachable, Claude is blocked rather than calling a dead tool and getting a confusing failure.</a:t>
            </a:r>
            <a:endParaRPr lang="en-DK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quality-gate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PostToolUse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Edit/Write After every file save, runs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ESLint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(for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or Maven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Checkstyle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(for .java). Surfaces lint failures as a warning so Claude can self-correct. Can be made blocking via ECC_QUALITY_GATE_BLOCKING=true.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governance-capture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PreToolUse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Bash Logs sensitive commands (secrets, approval-required operations) to governance-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log.jsonl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Purely observational — never blocks.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gateguard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-fact-force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PreToolUse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Edit/Write/Bash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(strict profile only)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Forces Claude to declare confirmed facts before high-consequence actions. Active only when ECC_HOOK_PROFILE=strict.</a:t>
            </a:r>
            <a:endParaRPr lang="en-DK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cost-tracker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Stop When Claude finishes a turn, appends token counts and estimated USD cost to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costs.jsonl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Uses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Anthropic's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published pricing for Haiku/Sonnet/Opus.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session-end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Stop Writes a session summary record (stop reason, last tool used) to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/session-&lt;date&gt;.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continuity across sessions.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pre-compact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PreCompact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Writes a boundary marker to the session file just before context is compacted, so the log shows where compaction happened.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7526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56895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55480" y="868680"/>
            <a:ext cx="150876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2057400"/>
            <a:ext cx="749808" cy="74980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06840" y="2834640"/>
            <a:ext cx="1051560" cy="105156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8138160" cy="12344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 Display"/>
              </a:rPr>
              <a:t>Methodology Starter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2377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5532120"/>
            <a:ext cx="16459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Netcompany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PACKAGE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What is inside the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3246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82296" cy="3246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21671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20824"/>
            <a:ext cx="2167128" cy="82484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dirty="0">
                <a:solidFill>
                  <a:srgbClr val="1E293B"/>
                </a:solidFill>
                <a:latin typeface="Aptos"/>
              </a:rPr>
              <a:t>Ways of working
Agent rules and outlines
Documentation policy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514600" cy="3246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1508760"/>
            <a:ext cx="82296" cy="3246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1673351"/>
            <a:ext cx="21671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020824"/>
            <a:ext cx="2167128" cy="26243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Setup guide
Install manifest
Repo checklist
CLAUDE template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508760"/>
            <a:ext cx="2514600" cy="324612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1508760"/>
            <a:ext cx="82296" cy="32461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1673351"/>
            <a:ext cx="21671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020824"/>
            <a:ext cx="2167128" cy="26243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Pre-implementation checkpoint
Remote readiness gate
Emergency bypass
Hook 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508760"/>
            <a:ext cx="2514600" cy="32461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1508760"/>
            <a:ext cx="82296" cy="324612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8048" y="1673351"/>
            <a:ext cx="21671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020824"/>
            <a:ext cx="2167128" cy="26243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Standards pack
Release evidence
Decision and runbook templates
Status and trace assets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5166360"/>
            <a:ext cx="100126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51560" y="5166360"/>
            <a:ext cx="82296" cy="777240"/>
          </a:xfrm>
          <a:prstGeom prst="rect">
            <a:avLst/>
          </a:prstGeom>
          <a:solidFill>
            <a:srgbClr val="12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52728" y="5330952"/>
            <a:ext cx="9665207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Compatibility detail for tool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5678424"/>
            <a:ext cx="9665207" cy="1554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dirty="0">
                <a:solidFill>
                  <a:srgbClr val="1E293B"/>
                </a:solidFill>
                <a:latin typeface="Aptos"/>
              </a:rPr>
              <a:t>`AGENTS.md` mirrors `.</a:t>
            </a:r>
            <a:r>
              <a:rPr sz="1250" b="0" dirty="0" err="1">
                <a:solidFill>
                  <a:srgbClr val="1E293B"/>
                </a:solidFill>
                <a:latin typeface="Aptos"/>
              </a:rPr>
              <a:t>claude</a:t>
            </a:r>
            <a:r>
              <a:rPr sz="1250" b="0" dirty="0">
                <a:solidFill>
                  <a:srgbClr val="1E293B"/>
                </a:solidFill>
                <a:latin typeface="Aptos"/>
              </a:rPr>
              <a:t>/agents/` and `.</a:t>
            </a:r>
            <a:r>
              <a:rPr sz="1250" b="0" dirty="0" err="1">
                <a:solidFill>
                  <a:srgbClr val="1E293B"/>
                </a:solidFill>
                <a:latin typeface="Aptos"/>
              </a:rPr>
              <a:t>claude</a:t>
            </a:r>
            <a:r>
              <a:rPr sz="1250" b="0" dirty="0">
                <a:solidFill>
                  <a:srgbClr val="1E293B"/>
                </a:solidFill>
                <a:latin typeface="Aptos"/>
              </a:rPr>
              <a:t>/skills/` so tools that cannot read `.</a:t>
            </a:r>
            <a:r>
              <a:rPr sz="1250" b="0" dirty="0" err="1">
                <a:solidFill>
                  <a:srgbClr val="1E293B"/>
                </a:solidFill>
                <a:latin typeface="Aptos"/>
              </a:rPr>
              <a:t>claude</a:t>
            </a:r>
            <a:r>
              <a:rPr sz="1250" b="0" dirty="0">
                <a:solidFill>
                  <a:srgbClr val="1E293B"/>
                </a:solidFill>
                <a:latin typeface="Aptos"/>
              </a:rPr>
              <a:t>/` still see the role and skill surface.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AGENT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48628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 dirty="0">
                <a:solidFill>
                  <a:srgbClr val="122436"/>
                </a:solidFill>
                <a:latin typeface="Aptos"/>
              </a:rPr>
              <a:t>Shared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856232"/>
            <a:ext cx="10058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50" b="1">
                <a:solidFill>
                  <a:srgbClr val="122436"/>
                </a:solidFill>
                <a:latin typeface="Aptos"/>
              </a:rPr>
              <a:t>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03704"/>
            <a:ext cx="1005840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Aptos"/>
              </a:rPr>
              <a:t>scope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56232" y="2139696"/>
            <a:ext cx="27432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67128" y="1691640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67128" y="169164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68296" y="1856232"/>
            <a:ext cx="10058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50" b="1">
                <a:solidFill>
                  <a:srgbClr val="122436"/>
                </a:solidFill>
                <a:latin typeface="Aptos"/>
              </a:rPr>
              <a:t>BA /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2203704"/>
            <a:ext cx="1005840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Aptos"/>
              </a:rPr>
              <a:t>rules + options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0440" y="2139696"/>
            <a:ext cx="27432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76472" y="1655064"/>
            <a:ext cx="151790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31336" y="1691640"/>
            <a:ext cx="82296" cy="914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32504" y="1856232"/>
            <a:ext cx="1152144" cy="26314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50" b="1" dirty="0">
                <a:solidFill>
                  <a:srgbClr val="122436"/>
                </a:solidFill>
                <a:latin typeface="Aptos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2203704"/>
            <a:ext cx="1005840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Aptos"/>
              </a:rPr>
              <a:t>decision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84648" y="2139696"/>
            <a:ext cx="27432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95544" y="1691640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95544" y="1691640"/>
            <a:ext cx="82296" cy="914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96712" y="1856232"/>
            <a:ext cx="10058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50" b="1">
                <a:solidFill>
                  <a:srgbClr val="122436"/>
                </a:solidFill>
                <a:latin typeface="Aptos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96712" y="2203704"/>
            <a:ext cx="1005840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Aptos"/>
              </a:rPr>
              <a:t>implementation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48856" y="2139696"/>
            <a:ext cx="27432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59752" y="1691640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59752" y="1691640"/>
            <a:ext cx="82296" cy="91440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60920" y="1856232"/>
            <a:ext cx="10058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50" b="1">
                <a:solidFill>
                  <a:srgbClr val="122436"/>
                </a:solidFill>
                <a:latin typeface="Aptos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203704"/>
            <a:ext cx="1005840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Aptos"/>
              </a:rPr>
              <a:t>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13064" y="2139696"/>
            <a:ext cx="27432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23960" y="1691640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23960" y="1691640"/>
            <a:ext cx="82296" cy="91440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25128" y="1856232"/>
            <a:ext cx="10058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50" b="1">
                <a:solidFill>
                  <a:srgbClr val="122436"/>
                </a:solidFill>
                <a:latin typeface="Aptos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2203704"/>
            <a:ext cx="1005840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Aptos"/>
              </a:rPr>
              <a:t>independent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77272" y="2139696"/>
            <a:ext cx="27432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488168" y="1691640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488168" y="1691640"/>
            <a:ext cx="82296" cy="9144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89336" y="1856232"/>
            <a:ext cx="100584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50" b="1">
                <a:solidFill>
                  <a:srgbClr val="122436"/>
                </a:solidFill>
                <a:latin typeface="Aptos"/>
              </a:rPr>
              <a:t>Trace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9336" y="2203704"/>
            <a:ext cx="1005840" cy="292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Aptos"/>
              </a:rPr>
              <a:t>release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520440"/>
            <a:ext cx="3200400" cy="1508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7240" y="3520440"/>
            <a:ext cx="82296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8408" y="3685032"/>
            <a:ext cx="28529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Defined lanes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" y="4032504"/>
            <a:ext cx="2852928" cy="8869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Each role has a purpose, mode, boundary, escalation rule, and handoff expectation.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60" y="3520440"/>
            <a:ext cx="3200400" cy="15087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480560" y="3520440"/>
            <a:ext cx="82296" cy="15087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81728" y="3685032"/>
            <a:ext cx="28529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Independent assurance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4032504"/>
            <a:ext cx="2852928" cy="8869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Review and critic roles are read-only by default and should use fresh context.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83879" y="3520440"/>
            <a:ext cx="3200400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83879" y="3520440"/>
            <a:ext cx="82296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85048" y="3685032"/>
            <a:ext cx="28529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 dirty="0">
                <a:solidFill>
                  <a:srgbClr val="122436"/>
                </a:solidFill>
                <a:latin typeface="Aptos"/>
              </a:rPr>
              <a:t>Consistent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5048" y="4032504"/>
            <a:ext cx="2852928" cy="440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dirty="0">
                <a:solidFill>
                  <a:srgbClr val="1E293B"/>
                </a:solidFill>
                <a:latin typeface="Aptos"/>
              </a:rPr>
              <a:t>Every team member is working from the same list of agents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DOMAIN EXPERT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48628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 dirty="0">
                <a:solidFill>
                  <a:srgbClr val="122436"/>
                </a:solidFill>
                <a:latin typeface="Aptos"/>
              </a:rPr>
              <a:t>Domain Expertise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246120" cy="187451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82296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96312"/>
            <a:ext cx="28986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When to add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43784"/>
            <a:ext cx="2898648" cy="12527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Public-sector, financial, health, regulated, safety-critical, or legally consequential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31720"/>
            <a:ext cx="324612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2331720"/>
            <a:ext cx="82296" cy="1874519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496312"/>
            <a:ext cx="28986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How to run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843784"/>
            <a:ext cx="2898648" cy="12527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Keep the Domain Expert one sprint ahead of builders so rulings do not block implementation.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31720"/>
            <a:ext cx="3246120" cy="1874519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331720"/>
            <a:ext cx="82296" cy="1874519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496312"/>
            <a:ext cx="28986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DWP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843784"/>
            <a:ext cx="2898648" cy="85561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0" dirty="0">
                <a:solidFill>
                  <a:srgbClr val="1E293B"/>
                </a:solidFill>
                <a:latin typeface="Aptos"/>
              </a:rPr>
              <a:t>Process, regulatory compliance, vulnerability, breathing space, insolvency, and payment allocation constraints.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NOT PROMPT SNIPPETS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Skills are reusable 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3327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2200" b="1">
                <a:solidFill>
                  <a:srgbClr val="122436"/>
                </a:solidFill>
                <a:latin typeface="Aptos"/>
              </a:rPr>
              <a:t>A useful skill captures a recurring decision pattern, produces evidence, and can be audited.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205740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82296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404872"/>
            <a:ext cx="17099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52344"/>
            <a:ext cx="1709928" cy="13898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>
                <a:solidFill>
                  <a:srgbClr val="1E293B"/>
                </a:solidFill>
                <a:latin typeface="Aptos"/>
              </a:rPr>
              <a:t>issue-to-build-plan
write-acceptance-criteria
test-plan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240280"/>
            <a:ext cx="2057400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2240280"/>
            <a:ext cx="82296" cy="20116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2404872"/>
            <a:ext cx="17099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752344"/>
            <a:ext cx="1709928" cy="13898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>
                <a:solidFill>
                  <a:srgbClr val="1E293B"/>
                </a:solidFill>
                <a:latin typeface="Aptos"/>
              </a:rPr>
              <a:t>change-classification
traceability enforcement
release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240280"/>
            <a:ext cx="2057400" cy="2011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2240280"/>
            <a:ext cx="82296" cy="201168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2404872"/>
            <a:ext cx="17099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2752344"/>
            <a:ext cx="1709928" cy="13898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>
                <a:solidFill>
                  <a:srgbClr val="1E293B"/>
                </a:solidFill>
                <a:latin typeface="Aptos"/>
              </a:rPr>
              <a:t>review-pr
design-review
migration safety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240280"/>
            <a:ext cx="2057400" cy="20116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2240280"/>
            <a:ext cx="82296" cy="20116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2404872"/>
            <a:ext cx="17099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122436"/>
                </a:solidFill>
                <a:latin typeface="Aptos"/>
              </a:rPr>
              <a:t>Specialise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752344"/>
            <a:ext cx="1709928" cy="13898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>
                <a:solidFill>
                  <a:srgbClr val="1E293B"/>
                </a:solidFill>
                <a:latin typeface="Aptos"/>
              </a:rPr>
              <a:t>date-effective policy
determinism
state precedence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983480"/>
            <a:ext cx="9921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51560" y="4983480"/>
            <a:ext cx="82296" cy="777240"/>
          </a:xfrm>
          <a:prstGeom prst="rect">
            <a:avLst/>
          </a:prstGeom>
          <a:solidFill>
            <a:srgbClr val="12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52728" y="5148072"/>
            <a:ext cx="9573767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Operating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5495544"/>
            <a:ext cx="9573767" cy="1554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Grow the library only when a skill repeatedly saves judgment; audit and prune it so the library does not become noise.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MAKE SAFE DELIVERY THE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246120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82296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719072"/>
            <a:ext cx="28986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50" b="1" dirty="0">
                <a:solidFill>
                  <a:srgbClr val="122436"/>
                </a:solidFill>
                <a:latin typeface="Aptos"/>
              </a:rPr>
              <a:t>Configure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155372"/>
            <a:ext cx="2898648" cy="61863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 dirty="0">
                <a:solidFill>
                  <a:srgbClr val="1E293B"/>
                </a:solidFill>
                <a:latin typeface="Aptos"/>
              </a:rPr>
              <a:t>Provide system requirements, environments, restraints in key documentation 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54480"/>
            <a:ext cx="3246120" cy="20574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554480"/>
            <a:ext cx="82296" cy="205740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1719072"/>
            <a:ext cx="28986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50" b="1">
                <a:solidFill>
                  <a:srgbClr val="122436"/>
                </a:solidFill>
                <a:latin typeface="Aptos"/>
              </a:rPr>
              <a:t>Agent boundaries must be explicit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180844"/>
            <a:ext cx="2898648" cy="143560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 dirty="0">
                <a:solidFill>
                  <a:srgbClr val="1E293B"/>
                </a:solidFill>
                <a:latin typeface="Aptos"/>
              </a:rPr>
              <a:t>Role outlines, handoffs, fresh-context review, and escalation rules prevent blurred authority.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246120" cy="2057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82296" cy="2057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719072"/>
            <a:ext cx="2898648" cy="53245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lang="en-US" sz="1550" b="1" dirty="0">
                <a:solidFill>
                  <a:srgbClr val="122436"/>
                </a:solidFill>
                <a:latin typeface="Aptos"/>
              </a:rPr>
              <a:t>W</a:t>
            </a:r>
            <a:r>
              <a:rPr sz="1550" b="1" dirty="0">
                <a:solidFill>
                  <a:srgbClr val="122436"/>
                </a:solidFill>
                <a:latin typeface="Aptos"/>
              </a:rPr>
              <a:t>ays of working must be designed for high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180844"/>
            <a:ext cx="2898648" cy="80637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 dirty="0">
                <a:solidFill>
                  <a:srgbClr val="1E293B"/>
                </a:solidFill>
                <a:latin typeface="Aptos"/>
              </a:rPr>
              <a:t>Things move fast with multiple humans building with agentic AI. </a:t>
            </a:r>
            <a:r>
              <a:rPr sz="1220" dirty="0">
                <a:solidFill>
                  <a:srgbClr val="1E293B"/>
                </a:solidFill>
                <a:latin typeface="Aptos"/>
              </a:rPr>
              <a:t>Processes should be designed early &amp; thoughtfully to avoid conflicts and bottlenecks. </a:t>
            </a:r>
            <a:endParaRPr sz="1220" b="0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240280"/>
            <a:ext cx="822960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99232"/>
            <a:ext cx="76809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Aptos"/>
              </a:rPr>
              <a:t>Repository-backed deep dives for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Starter pack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Governance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395728" cy="34930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WAYS-OF-WORKING
AGENT-RULES
AGENT-OUTLINES
DOCUMENTATION-POLICY
PRE-IMPLEMENTATION-CHECKPOINT
REMOTE-DEPLOYMENT-READINESS-GATE
EMERGENCY-BYPASS-PROCEDURE
CLAUDE-MD-TEMPLATE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417320"/>
            <a:ext cx="2743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03320" y="1417320"/>
            <a:ext cx="82296" cy="4114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4487" y="1581912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.claude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1929384"/>
            <a:ext cx="2395728" cy="34930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Agent definitions
Skills
Hook scripts
hooks.json
settings.json
Contexts
Session continuity
Cost/session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417320"/>
            <a:ext cx="4663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20840" y="1417320"/>
            <a:ext cx="82296" cy="411480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22007" y="1581912"/>
            <a:ext cx="431596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Standards and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7" y="1929384"/>
            <a:ext cx="4315968" cy="34930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Standards: AI, development, deviations, governance, integration, operations, platform, security.
Templates: build tracker, CI secrets, decision log, Dev/DevOps handoff, Docker, Compose, Helm, feature flags, feature notes, memory, status, release evidence, remote environment spec, runbook, Santa rubrics, trace 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Agent role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4251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3580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Direction and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3035808" cy="3630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solution-architect
delivery-designer
design-critic
business-analyst
dwp-debt-domain-expert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82296" cy="4251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581912"/>
            <a:ext cx="303580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Build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29384"/>
            <a:ext cx="3035808" cy="3630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backend-builder
frontend-builder
db-designer
integration-protocol-specialist
refactorer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83280" cy="42519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82296" cy="42519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303580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Assurance and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29384"/>
            <a:ext cx="3035808" cy="3630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test-designer
test-builder
code-reviewer
traceability-steward
devops-release-engineer
sre-platform-engineer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Skill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6974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82296" cy="4251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235000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1">
                <a:solidFill>
                  <a:srgbClr val="122436"/>
                </a:solidFill>
                <a:latin typeface="Aptos"/>
              </a:rP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9384"/>
            <a:ext cx="2350008" cy="3630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issue-to-build-plan
write-acceptance-criteria
create-domain-pack
api-contract-draft
test-plan
generate-domain-tests
generate-e2e-scenarios
seed-data-builder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6974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82296" cy="4251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581912"/>
            <a:ext cx="235000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1">
                <a:solidFill>
                  <a:srgbClr val="122436"/>
                </a:solidFill>
                <a:latin typeface="Aptos"/>
              </a:rP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929384"/>
            <a:ext cx="2350008" cy="3630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change-classification
standards-governance
requirements trace
traceability evidence
release evidence
release readiness
ci gates
update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26974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82296" cy="425196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1581912"/>
            <a:ext cx="235000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1">
                <a:solidFill>
                  <a:srgbClr val="122436"/>
                </a:solidFill>
                <a:latin typeface="Apto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1929384"/>
            <a:ext cx="2350008" cy="3630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Aptos"/>
              </a:rPr>
              <a:t>review-pr
design-review
breaking-change impact
contract versioning
migration safety
rule coverage
defect triage
redaction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417320"/>
            <a:ext cx="22402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72600" y="1417320"/>
            <a:ext cx="82296" cy="42519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73768" y="1581912"/>
            <a:ext cx="189280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00" b="1">
                <a:solidFill>
                  <a:srgbClr val="122436"/>
                </a:solidFill>
                <a:latin typeface="Aptos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1929384"/>
            <a:ext cx="1892808" cy="3630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019" b="0">
                <a:solidFill>
                  <a:srgbClr val="1E293B"/>
                </a:solidFill>
                <a:latin typeface="Aptos"/>
              </a:rPr>
              <a:t>date-effective policy
determinism
error envelopes
state precedence
immutable records
reconciliation
observability
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AUTOMATED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Hooks make the safe path automatic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24612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82296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947672"/>
            <a:ext cx="2898648" cy="31701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700" b="1" dirty="0">
                <a:solidFill>
                  <a:srgbClr val="122436"/>
                </a:solidFill>
                <a:latin typeface="Aptos"/>
              </a:rPr>
              <a:t>Blocking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95144"/>
            <a:ext cx="2898648" cy="13898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 dirty="0">
                <a:solidFill>
                  <a:srgbClr val="1E293B"/>
                </a:solidFill>
                <a:latin typeface="Aptos"/>
              </a:rPr>
              <a:t>Hard git safety only
block-no-verify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83080"/>
            <a:ext cx="3246120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783080"/>
            <a:ext cx="82296" cy="20116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7" y="1947672"/>
            <a:ext cx="2898648" cy="31701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700" b="1" dirty="0">
                <a:solidFill>
                  <a:srgbClr val="122436"/>
                </a:solidFill>
                <a:latin typeface="Aptos"/>
              </a:rPr>
              <a:t>Advisory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295144"/>
            <a:ext cx="2898648" cy="80637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 dirty="0">
                <a:solidFill>
                  <a:srgbClr val="1E293B"/>
                </a:solidFill>
                <a:latin typeface="Aptos"/>
              </a:rPr>
              <a:t>Recommended default
quality, config, governance, continuity, MCP 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783080"/>
            <a:ext cx="3246120" cy="2011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783080"/>
            <a:ext cx="82296" cy="201168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947672"/>
            <a:ext cx="2898648" cy="31701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700" b="1" dirty="0">
                <a:solidFill>
                  <a:srgbClr val="122436"/>
                </a:solidFill>
                <a:latin typeface="Aptos"/>
              </a:rPr>
              <a:t>Lifestyle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95144"/>
            <a:ext cx="2898648" cy="61863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r>
              <a:rPr sz="1220" b="0" dirty="0">
                <a:solidFill>
                  <a:srgbClr val="1E293B"/>
                </a:solidFill>
                <a:latin typeface="Aptos"/>
              </a:rPr>
              <a:t>Fire at session boundaries
</a:t>
            </a:r>
            <a:r>
              <a:rPr lang="en-US" sz="1220" dirty="0">
                <a:solidFill>
                  <a:srgbClr val="1E293B"/>
                </a:solidFill>
                <a:latin typeface="Aptos"/>
              </a:rPr>
              <a:t> cost controls</a:t>
            </a:r>
            <a:endParaRPr sz="1220" b="0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Hook profiles and release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1920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36192"/>
            <a:ext cx="47274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Hook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83664"/>
            <a:ext cx="4727448" cy="12984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minimal: block-no-verify only.
standard: config, governance capture, quality, MCP health, continuity, cost controls.
strict: standard plus fact declaration for high-consequence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74920" cy="1920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82296" cy="1920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536192"/>
            <a:ext cx="47274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122436"/>
                </a:solidFill>
                <a:latin typeface="Aptos"/>
              </a:rPr>
              <a:t>Release evidence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83664"/>
            <a:ext cx="4727448" cy="12984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issue -&gt; acceptance criteria -&gt; PR -&gt; trace map -&gt; tests -&gt; contract parity -&gt; environment/config identifiers -&gt; deviations -&gt; signoff -&gt; immutable pack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10607040" cy="1051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977639"/>
            <a:ext cx="82296" cy="105156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142231"/>
            <a:ext cx="10259567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Signoff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489704"/>
            <a:ext cx="10259567" cy="4297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Solution Architect, Domain / Policy Owner for Class A, Security when controls changed, Release Manager, Contract Owner when external interfaces changed.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Adoption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469880" cy="4343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9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Install files in the correct locations: docs/project-foundation, .claude, .github, repo-root CLAUDE.md.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Fill in CLAUDE.md, project memory, setup checklist, standards applicability, hook profile, and Domain Expert customisation.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Configure branch protection, PR template, quality gates, MCP health checks, cost/context controls, feature flags, CI secrets, and remote environment spec.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Create the initial trace map, decision log, release evidence shell, runbook shell, and status reporting cadence.</a:t>
            </a:r>
          </a:p>
          <a:p>
            <a:pPr>
              <a:spcAft>
                <a:spcPts val="9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At each release phase: audit skills, prune irrelevant controls, update traceability, refresh evidence, review deviations, confirm central ownership.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STANDARDS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Governance becomes the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25880"/>
            <a:ext cx="10607040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200" b="1">
                <a:solidFill>
                  <a:srgbClr val="122436"/>
                </a:solidFill>
                <a:latin typeface="Aptos"/>
              </a:rPr>
              <a:t>The pack turns governance from end-of-release paperwork into delivery defaults.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1143000" cy="1143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450592"/>
            <a:ext cx="1463040" cy="2011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Governed</a:t>
            </a:r>
          </a:p>
        </p:txBody>
      </p:sp>
      <p:sp>
        <p:nvSpPr>
          <p:cNvPr id="8" name="Oval 7"/>
          <p:cNvSpPr/>
          <p:nvPr/>
        </p:nvSpPr>
        <p:spPr>
          <a:xfrm>
            <a:off x="3017520" y="2057400"/>
            <a:ext cx="1143000" cy="11430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52927" y="2450592"/>
            <a:ext cx="1463040" cy="2011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Deterministic</a:t>
            </a:r>
          </a:p>
        </p:txBody>
      </p:sp>
      <p:sp>
        <p:nvSpPr>
          <p:cNvPr id="10" name="Oval 9"/>
          <p:cNvSpPr/>
          <p:nvPr/>
        </p:nvSpPr>
        <p:spPr>
          <a:xfrm>
            <a:off x="5166360" y="2057400"/>
            <a:ext cx="1143000" cy="1143000"/>
          </a:xfrm>
          <a:prstGeom prst="ellipse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1768" y="2450592"/>
            <a:ext cx="1463040" cy="2011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Append-only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2057400"/>
            <a:ext cx="1143000" cy="1143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0608" y="2450592"/>
            <a:ext cx="1463040" cy="2011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Research-first</a:t>
            </a:r>
          </a:p>
        </p:txBody>
      </p:sp>
      <p:sp>
        <p:nvSpPr>
          <p:cNvPr id="14" name="Oval 13"/>
          <p:cNvSpPr/>
          <p:nvPr/>
        </p:nvSpPr>
        <p:spPr>
          <a:xfrm>
            <a:off x="9464040" y="2057400"/>
            <a:ext cx="1143000" cy="1143000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9448" y="2450592"/>
            <a:ext cx="1463040" cy="2011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Evidence-backed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5074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3794760"/>
            <a:ext cx="82296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3959352"/>
            <a:ext cx="47274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Non-negotiables covered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306824"/>
            <a:ext cx="4727448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Traceability, change classification, release evidence, contracts, testing, migrations, determinism, local/remote parity, logging, security, data classification.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94760"/>
            <a:ext cx="5074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94760"/>
            <a:ext cx="82296" cy="1188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3959352"/>
            <a:ext cx="47274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Workflow rules covered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306824"/>
            <a:ext cx="4727448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Issue-first delivery, PR gates, branch discipline, documentation impact classification, emergency bypass, and readiness checks.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39512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TEMPLATES AND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Evidence is planned from the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417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82296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10698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40864"/>
            <a:ext cx="106984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scope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2331720"/>
            <a:ext cx="41148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39" y="1828800"/>
            <a:ext cx="1417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6039" y="1828800"/>
            <a:ext cx="82296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1993392"/>
            <a:ext cx="10698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ACs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340864"/>
            <a:ext cx="106984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testable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59" y="2331720"/>
            <a:ext cx="411481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0559" y="1828800"/>
            <a:ext cx="1417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59" y="1828800"/>
            <a:ext cx="82296" cy="100584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7" y="1993392"/>
            <a:ext cx="10698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7" y="2340864"/>
            <a:ext cx="106984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implemented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7879" y="2331720"/>
            <a:ext cx="41148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79" y="1828800"/>
            <a:ext cx="1417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79" y="1828800"/>
            <a:ext cx="82296" cy="10058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7" y="1993392"/>
            <a:ext cx="10698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7" y="2340864"/>
            <a:ext cx="106984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mapped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0" y="2331720"/>
            <a:ext cx="411479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0" y="1828800"/>
            <a:ext cx="1417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1828800"/>
            <a:ext cx="82296" cy="100584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8" y="1993392"/>
            <a:ext cx="10698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2340864"/>
            <a:ext cx="106984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reported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46920" y="2331720"/>
            <a:ext cx="41148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04120" y="1828800"/>
            <a:ext cx="141732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04120" y="1828800"/>
            <a:ext cx="82296" cy="1005840"/>
          </a:xfrm>
          <a:prstGeom prst="rect">
            <a:avLst/>
          </a:prstGeom>
          <a:solidFill>
            <a:srgbClr val="12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05288" y="1993392"/>
            <a:ext cx="106984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Signoff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05288" y="2340864"/>
            <a:ext cx="106984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Aptos"/>
              </a:rPr>
              <a:t>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794760"/>
            <a:ext cx="3108960" cy="1508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" y="3794760"/>
            <a:ext cx="82296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5568" y="3959352"/>
            <a:ext cx="276148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Repeatable assets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4306824"/>
            <a:ext cx="2761488" cy="8869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>
                <a:solidFill>
                  <a:srgbClr val="1E293B"/>
                </a:solidFill>
                <a:latin typeface="Aptos"/>
              </a:rPr>
              <a:t>Feature note, decision log, runbook, release evidence pack, status report, CI secret register, feature flag register.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3794760"/>
            <a:ext cx="3108960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26280" y="3794760"/>
            <a:ext cx="82296" cy="1508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27448" y="3959352"/>
            <a:ext cx="276148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Current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7448" y="4306824"/>
            <a:ext cx="2761488" cy="8869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>
                <a:solidFill>
                  <a:srgbClr val="1E293B"/>
                </a:solidFill>
                <a:latin typeface="Aptos"/>
              </a:rPr>
              <a:t>Project memory keeps the latest working context concise for humans and agents.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794760"/>
            <a:ext cx="3108960" cy="150876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38160" y="3794760"/>
            <a:ext cx="82296" cy="150876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3959352"/>
            <a:ext cx="276148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122436"/>
                </a:solidFill>
                <a:latin typeface="Aptos"/>
              </a:rPr>
              <a:t>Leadership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4306824"/>
            <a:ext cx="2761488" cy="886967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20" b="0">
                <a:solidFill>
                  <a:srgbClr val="1E293B"/>
                </a:solidFill>
                <a:latin typeface="Aptos"/>
              </a:rPr>
              <a:t>A merged PR without traceability or evidence is incomplete, not merely undocumented.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45115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969264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800" b="1">
                <a:solidFill>
                  <a:srgbClr val="122436"/>
                </a:solidFill>
                <a:latin typeface="Aptos"/>
              </a:rPr>
              <a:t>Adoption playbook and leadership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24712"/>
            <a:ext cx="1005840" cy="45720"/>
          </a:xfrm>
          <a:prstGeom prst="rect">
            <a:avLst/>
          </a:prstGeom>
          <a:solidFill>
            <a:srgbClr val="E05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2412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2000" b="1">
                <a:solidFill>
                  <a:srgbClr val="122436"/>
                </a:solidFill>
                <a:latin typeface="Aptos"/>
              </a:rPr>
              <a:t>Standardise the operating model. Customise the domain layer. Keep the pack alive through retrospectives.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754880" cy="1512209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Fill in CLAUDE.md before agent work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 err="1"/>
              <a:t>Customise</a:t>
            </a:r>
            <a:r>
              <a:rPr dirty="0"/>
              <a:t> agents and Domain Expert role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Mark irrelevant standards N/A at kickoff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Install hooks and branch protections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Create project memory on day zero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 dirty="0"/>
              <a:t>Audit skills at each release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65960"/>
            <a:ext cx="5166360" cy="3154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0" y="1965960"/>
            <a:ext cx="82296" cy="3154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6207" y="2130552"/>
            <a:ext cx="4818888" cy="31701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700" b="1" dirty="0">
                <a:solidFill>
                  <a:srgbClr val="122436"/>
                </a:solidFill>
                <a:latin typeface="Aptos"/>
              </a:rPr>
              <a:t>Team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2478024"/>
            <a:ext cx="4818888" cy="25328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ptos"/>
              </a:rPr>
              <a:t>Which project types adopt by default?
What is the minimum hook profile?
When is Domain Expert mandatory?
Who owns the central pack?
How will adoption be measured?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3035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Methodology Starter Pack | Leadership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1731</Words>
  <Application>Microsoft Office PowerPoint</Application>
  <PresentationFormat>Widescreen</PresentationFormat>
  <Paragraphs>204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Tomas Wind</cp:lastModifiedBy>
  <cp:revision>1</cp:revision>
  <cp:lastPrinted>2026-04-29T07:42:24Z</cp:lastPrinted>
  <dcterms:created xsi:type="dcterms:W3CDTF">2013-01-27T09:14:16Z</dcterms:created>
  <dcterms:modified xsi:type="dcterms:W3CDTF">2026-04-29T11:36:38Z</dcterms:modified>
  <cp:category/>
</cp:coreProperties>
</file>